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953" r:id="rId2"/>
    <p:sldId id="3955" r:id="rId3"/>
    <p:sldId id="396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C28EB010-0A49-4D11-BFA8-F4DBAD2174DF}" type="datetimeFigureOut">
              <a:rPr lang="ko-KR" altLang="en-US" smtClean="0"/>
              <a:pPr/>
              <a:t>2026-02-25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AD8A463E-C3FC-4C23-8BB9-BE8450244D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1204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원인</a:t>
            </a:r>
          </a:p>
          <a:p>
            <a:r>
              <a:rPr lang="ko-KR" altLang="en-US" dirty="0"/>
              <a:t>환경 변화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사회적</a:t>
            </a:r>
            <a:r>
              <a:rPr lang="en-US" altLang="ko-KR" dirty="0"/>
              <a:t>, </a:t>
            </a:r>
            <a:r>
              <a:rPr lang="ko-KR" altLang="en-US" dirty="0"/>
              <a:t>경제적</a:t>
            </a:r>
            <a:r>
              <a:rPr lang="en-US" altLang="ko-KR" dirty="0"/>
              <a:t>, </a:t>
            </a:r>
            <a:r>
              <a:rPr lang="ko-KR" altLang="en-US" dirty="0"/>
              <a:t>정책적 요인 등</a:t>
            </a:r>
            <a:r>
              <a:rPr lang="en-US" altLang="ko-KR" dirty="0"/>
              <a:t>)</a:t>
            </a:r>
            <a:r>
              <a:rPr lang="ko-KR" altLang="en-US" dirty="0"/>
              <a:t>에 의해 데이터 특성이 변화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예측 불가능한 외부 이벤트 발생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b="1" dirty="0"/>
              <a:t>COVID-19</a:t>
            </a:r>
            <a:r>
              <a:rPr lang="ko-KR" altLang="en-US" dirty="0"/>
              <a:t>와 같은 팬데믹</a:t>
            </a:r>
            <a:r>
              <a:rPr lang="en-US" altLang="ko-KR" dirty="0"/>
              <a:t>, </a:t>
            </a:r>
            <a:r>
              <a:rPr lang="ko-KR" altLang="en-US" dirty="0"/>
              <a:t>경기 침체 등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**</a:t>
            </a:r>
            <a:r>
              <a:rPr lang="en-US" altLang="ko-KR" dirty="0"/>
              <a:t>Sales of loungewear (</a:t>
            </a:r>
            <a:r>
              <a:rPr lang="ko-KR" altLang="en-US" dirty="0"/>
              <a:t>편한 옷 판매량</a:t>
            </a:r>
            <a:r>
              <a:rPr lang="en-US" altLang="ko-KR" dirty="0"/>
              <a:t>)**</a:t>
            </a:r>
            <a:r>
              <a:rPr lang="ko-KR" altLang="en-US" dirty="0"/>
              <a:t>에 대한 시계열 그래프입니다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검은 점선</a:t>
            </a:r>
            <a:r>
              <a:rPr lang="en-US" altLang="ko-KR" dirty="0"/>
              <a:t>: </a:t>
            </a:r>
            <a:r>
              <a:rPr lang="ko-KR" altLang="en-US" dirty="0"/>
              <a:t>기존 모델이 예측한 판매량 </a:t>
            </a:r>
            <a:r>
              <a:rPr lang="en-US" altLang="ko-KR" dirty="0"/>
              <a:t>(predicted)</a:t>
            </a:r>
          </a:p>
          <a:p>
            <a:r>
              <a:rPr lang="ko-KR" altLang="en-US" b="1" dirty="0"/>
              <a:t>빨간 실선</a:t>
            </a:r>
            <a:r>
              <a:rPr lang="en-US" altLang="ko-KR" dirty="0"/>
              <a:t>: </a:t>
            </a:r>
            <a:r>
              <a:rPr lang="ko-KR" altLang="en-US" dirty="0"/>
              <a:t>실제 판매량 </a:t>
            </a:r>
            <a:r>
              <a:rPr lang="en-US" altLang="ko-KR" dirty="0"/>
              <a:t>(actual)</a:t>
            </a:r>
          </a:p>
          <a:p>
            <a:r>
              <a:rPr lang="en-US" altLang="ko-KR" dirty="0"/>
              <a:t>“</a:t>
            </a:r>
            <a:r>
              <a:rPr lang="en-US" altLang="ko-KR" b="1" dirty="0"/>
              <a:t>national lockdown announced</a:t>
            </a:r>
            <a:r>
              <a:rPr lang="ko-KR" altLang="en-US" dirty="0"/>
              <a:t>” 시점 이후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실제 판매량은 급격히 증가함 </a:t>
            </a:r>
            <a:r>
              <a:rPr lang="en-US" altLang="ko-KR" dirty="0"/>
              <a:t>(</a:t>
            </a:r>
            <a:r>
              <a:rPr lang="ko-KR" altLang="en-US" dirty="0"/>
              <a:t>재택근무 및 외출 자제로 인해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하지만 모델은 기존 패턴을 기반으로 예측했기 때문에 변화에 대응하지 못함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이처럼 환경 변화로 인해 예측이 틀어지는 것을 </a:t>
            </a:r>
            <a:r>
              <a:rPr lang="ko-KR" altLang="en-US" b="1" dirty="0"/>
              <a:t>컨셉 </a:t>
            </a:r>
            <a:r>
              <a:rPr lang="ko-KR" altLang="en-US" b="1" dirty="0" err="1"/>
              <a:t>드리프트</a:t>
            </a:r>
            <a:r>
              <a:rPr lang="ko-KR" altLang="en-US" dirty="0" err="1"/>
              <a:t>라고</a:t>
            </a:r>
            <a:r>
              <a:rPr lang="ko-KR" altLang="en-US" dirty="0"/>
              <a:t> 하며</a:t>
            </a:r>
            <a:r>
              <a:rPr lang="en-US" altLang="ko-KR" dirty="0"/>
              <a:t>, </a:t>
            </a:r>
            <a:r>
              <a:rPr lang="ko-KR" altLang="en-US" dirty="0"/>
              <a:t>모델 성능 저하의 중요한 요인이 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05D71-3E00-47B2-B0E9-2A2D24FE54E2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9556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1589E3-5C38-1E1A-5024-1ECB61B9A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5AA88F-D09E-65C9-8DF4-995BA8DDA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006449-7031-F715-A693-CBC4EB985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E86EE-167E-67E6-2549-596F6B1E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AE77F2-D331-0818-1CC2-D02BE3CE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97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80AC2-7EC1-FA0E-FFA6-BF5F37B2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6BCBB-0A0A-3EDD-BD49-3BA563061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96A7DD-22B4-537E-5827-2CA0ECBD9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B894FD-A6FA-EFD6-B959-E9E6FA3D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CDBFEE-48AE-B008-013B-697B0632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893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EE9B8-AA9D-BFDC-4E88-677C93BB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8EBF47-9D05-1E0B-E80B-C0A657CAE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51AE41-A63E-30E6-5599-858DE5952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B968AF-7818-2B25-E1AB-CC0ED46A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4B10F-5481-379C-3E91-87ECD30E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74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4960E-4528-C36C-1EEE-9FCA8A4FD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6C474C-64A2-A1AD-1B7C-9950CD0CC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3B2289-755B-3B2A-28E8-1AC118531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2F3999-64C3-6106-BD10-BDA3F270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382057-AE49-0B06-C8F0-70400F2B6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FDE5F2-7B1E-C997-8EDE-5DC74696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799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EA8880-0BD9-73D8-E12B-ADF7C26AD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E5D024-45B7-177D-8162-32AF4A43F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3B49CF-41B8-4522-0955-913293BC2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66CF87-CB83-14F0-693F-9FB843200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433963-885D-8D06-AE98-740F66C98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C238E8-D98B-4B05-4640-96709F6D4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A2957C-96B0-4BA3-DF50-B8ACF811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DF56D5-85F0-2987-67FC-1D428EC0E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85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0DE22-B02E-CC05-522E-F486E1F24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885B1B-3C5C-785F-F8D9-4820DFC53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20211F-47B6-739D-8302-F154CD3C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3EE30E-E266-0404-7B4D-34781CED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595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F29004-AE69-3586-35E7-38F54CFD0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9F94E1-2924-D26C-5CA4-AEAA9BA92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1B907A-45A6-EDBA-5254-EB890E0C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44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21704-454D-919E-07A1-196E45B7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23E573-FACC-7D07-AC5B-BDB3D27CB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8DA23E-0C71-9381-8D94-5F4D696A0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FCB138-4F3F-9554-2560-DDE4111F9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F53709-FE04-23A1-E883-EDEB1021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F37640-D4A6-FFB0-0E9E-D006C837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67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4116F-FBB7-C528-FC02-38EC55D3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FE9232-A976-2BCA-5BF7-55283A018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9ADEE0-2406-1CE7-1F9C-572D98261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9D7DD4-06DE-7741-4372-EF53B6F1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D56ED6-1A02-BD00-2A10-68C08B6A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1BCB86-F5FB-2D1D-4E62-3DD62718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230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E32E7-428C-3005-B858-4D8314D7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0F4EF0-3B4F-C122-A9AB-EB5554177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6302E6-045F-2793-3F5E-53DC8EE45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FEEE63-7B54-E869-D24B-548EA2E1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323AA-E0CB-B55F-14C3-013B00B4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22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7842A3-1F4B-228B-E6B9-66E099212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C40AD3-29B9-AC09-9F4C-ED9AD0918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862B0-A05F-2FB2-E076-04EF285D9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065A3D-7B34-BE28-5988-0C74BF69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742639-DF5D-6C94-8A36-289BA2F66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630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1" y="1372096"/>
            <a:ext cx="11653523" cy="1936941"/>
          </a:xfrm>
          <a:prstGeom prst="rect">
            <a:avLst/>
          </a:prstGeom>
        </p:spPr>
        <p:txBody>
          <a:bodyPr>
            <a:spAutoFit/>
          </a:bodyPr>
          <a:lstStyle>
            <a:lvl1pPr marL="336142" indent="-336142">
              <a:lnSpc>
                <a:spcPct val="100000"/>
              </a:lnSpc>
              <a:buFont typeface="Wingdings" panose="05000000000000000000" pitchFamily="2" charset="2"/>
              <a:buChar char="ü"/>
              <a:defRPr sz="288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572684" indent="-236544">
              <a:lnSpc>
                <a:spcPct val="100000"/>
              </a:lnSpc>
              <a:buFont typeface="Wingdings" panose="05000000000000000000" pitchFamily="2" charset="2"/>
              <a:buChar char="§"/>
              <a:defRPr sz="2160">
                <a:solidFill>
                  <a:srgbClr val="224D60"/>
                </a:solidFill>
              </a:defRPr>
            </a:lvl2pPr>
            <a:lvl3pPr>
              <a:lnSpc>
                <a:spcPct val="100000"/>
              </a:lnSpc>
              <a:defRPr sz="1920">
                <a:solidFill>
                  <a:srgbClr val="224D60"/>
                </a:solidFill>
              </a:defRPr>
            </a:lvl3pPr>
            <a:lvl4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4pPr>
            <a:lvl5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269240" y="282049"/>
            <a:ext cx="11655840" cy="899665"/>
          </a:xfrm>
        </p:spPr>
        <p:txBody>
          <a:bodyPr anchor="ctr" anchorCtr="0"/>
          <a:lstStyle>
            <a:lvl1pPr>
              <a:defRPr sz="384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4F0E002-2986-B5D4-354A-EFA985E4FE63}"/>
              </a:ext>
            </a:extLst>
          </p:cNvPr>
          <p:cNvCxnSpPr>
            <a:cxnSpLocks/>
          </p:cNvCxnSpPr>
          <p:nvPr userDrawn="1"/>
        </p:nvCxnSpPr>
        <p:spPr>
          <a:xfrm>
            <a:off x="392966" y="1181713"/>
            <a:ext cx="11799034" cy="0"/>
          </a:xfrm>
          <a:prstGeom prst="line">
            <a:avLst/>
          </a:prstGeom>
          <a:noFill/>
          <a:ln w="762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04832466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65D88F-3D8E-50CA-CA35-F0F6E569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1C9A97-7ED5-9272-D65C-A8CBBA492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8106F2-6507-A274-F3FA-AB1878B09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C0C12309-9A30-4AEB-9B89-D349251539B4}" type="datetimeFigureOut">
              <a:rPr lang="ko-KR" altLang="en-US" smtClean="0"/>
              <a:pPr/>
              <a:t>2026-02-25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5B30DA-B996-448B-5D21-C6E369048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91A3C1-5D4A-0268-3537-AB03E6BDE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8150F550-5D56-453E-AD77-8CBA182D5EE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921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2F2317C-BB9B-896D-5122-9BF85C3E37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41" y="1372096"/>
            <a:ext cx="11653523" cy="4417107"/>
          </a:xfrm>
        </p:spPr>
        <p:txBody>
          <a:bodyPr/>
          <a:lstStyle/>
          <a:p>
            <a:r>
              <a:rPr lang="ko-KR" altLang="en-US" sz="2800" dirty="0"/>
              <a:t>모델 모니터링</a:t>
            </a:r>
            <a:endParaRPr lang="en-US" altLang="ko-KR" sz="2800" dirty="0"/>
          </a:p>
          <a:p>
            <a:pPr lvl="1"/>
            <a:r>
              <a:rPr lang="ko-KR" altLang="en-US" sz="2000" dirty="0"/>
              <a:t>프로덕션 환경에서 </a:t>
            </a:r>
            <a:r>
              <a:rPr lang="en-US" altLang="ko-KR" sz="2000" dirty="0"/>
              <a:t>ML </a:t>
            </a:r>
            <a:r>
              <a:rPr lang="ko-KR" altLang="en-US" sz="2000" dirty="0"/>
              <a:t>모델의 성능 및 동작을 지속적으로 추적</a:t>
            </a:r>
            <a:r>
              <a:rPr lang="en-US" altLang="ko-KR" sz="2000" dirty="0"/>
              <a:t>, </a:t>
            </a:r>
            <a:r>
              <a:rPr lang="ko-KR" altLang="en-US" sz="2000" dirty="0"/>
              <a:t>분석</a:t>
            </a:r>
            <a:r>
              <a:rPr lang="en-US" altLang="ko-KR" sz="2000" dirty="0"/>
              <a:t>, </a:t>
            </a:r>
            <a:r>
              <a:rPr lang="ko-KR" altLang="en-US" sz="2000" dirty="0"/>
              <a:t>평가하는 프로세스</a:t>
            </a:r>
            <a:endParaRPr lang="en-US" altLang="ko-KR" sz="2000" dirty="0"/>
          </a:p>
          <a:p>
            <a:pPr lvl="1"/>
            <a:r>
              <a:rPr lang="ko-KR" altLang="en-US" sz="2000" dirty="0"/>
              <a:t>필요성 </a:t>
            </a:r>
            <a:r>
              <a:rPr lang="en-US" altLang="ko-KR" sz="2000" dirty="0"/>
              <a:t>: </a:t>
            </a:r>
            <a:r>
              <a:rPr lang="ko-KR" altLang="en-US" sz="2000" dirty="0"/>
              <a:t>모델은 배포 후에도 품질 저하</a:t>
            </a:r>
            <a:r>
              <a:rPr lang="en-US" altLang="ko-KR" sz="2000" dirty="0"/>
              <a:t>, </a:t>
            </a:r>
            <a:r>
              <a:rPr lang="ko-KR" altLang="en-US" sz="2000" dirty="0"/>
              <a:t>데이터 문제</a:t>
            </a:r>
            <a:r>
              <a:rPr lang="en-US" altLang="ko-KR" sz="2000" dirty="0"/>
              <a:t>, </a:t>
            </a:r>
            <a:r>
              <a:rPr lang="ko-KR" altLang="en-US" sz="2000" dirty="0"/>
              <a:t>사용 환경 변화 등의 위험에 노출됨</a:t>
            </a:r>
            <a:endParaRPr lang="en-US" altLang="ko-KR" sz="2000" dirty="0"/>
          </a:p>
          <a:p>
            <a:pPr lvl="1"/>
            <a:r>
              <a:rPr lang="ko-KR" altLang="en-US" sz="2000" dirty="0"/>
              <a:t>주요 리스크</a:t>
            </a:r>
            <a:endParaRPr lang="en-US" altLang="ko-KR" sz="2000" dirty="0"/>
          </a:p>
          <a:p>
            <a:pPr lvl="2"/>
            <a:r>
              <a:rPr lang="ko-KR" altLang="en-US" sz="1800" dirty="0"/>
              <a:t>데이터</a:t>
            </a:r>
            <a:r>
              <a:rPr lang="en-US" altLang="ko-KR" sz="1800" dirty="0"/>
              <a:t>/</a:t>
            </a:r>
            <a:r>
              <a:rPr lang="ko-KR" altLang="en-US" sz="1800" dirty="0"/>
              <a:t>컨셉 드리프트</a:t>
            </a:r>
            <a:endParaRPr lang="en-US" altLang="ko-KR" sz="1800" dirty="0"/>
          </a:p>
          <a:p>
            <a:pPr lvl="2"/>
            <a:r>
              <a:rPr lang="ko-KR" altLang="en-US" sz="1800" dirty="0"/>
              <a:t>데이터 품질 문제</a:t>
            </a:r>
            <a:endParaRPr lang="en-US" altLang="ko-KR" sz="1800" dirty="0"/>
          </a:p>
          <a:p>
            <a:pPr lvl="2"/>
            <a:r>
              <a:rPr lang="ko-KR" altLang="en-US" sz="1800" dirty="0"/>
              <a:t>적대적 공격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prompt injection)</a:t>
            </a:r>
          </a:p>
          <a:p>
            <a:pPr lvl="2"/>
            <a:r>
              <a:rPr lang="ko-KR" altLang="en-US" sz="1800" dirty="0"/>
              <a:t>연결된 앞 단계의 모델 오류 전파</a:t>
            </a:r>
            <a:endParaRPr lang="en-US" altLang="ko-KR" sz="1800" dirty="0"/>
          </a:p>
          <a:p>
            <a:pPr lvl="1"/>
            <a:r>
              <a:rPr lang="ko-KR" altLang="en-US" sz="2000" dirty="0"/>
              <a:t>모니터링 목표</a:t>
            </a:r>
            <a:endParaRPr lang="en-US" altLang="ko-KR" sz="2000" dirty="0"/>
          </a:p>
          <a:p>
            <a:pPr lvl="2"/>
            <a:r>
              <a:rPr lang="ko-KR" altLang="en-US" sz="1800" dirty="0"/>
              <a:t>문제 </a:t>
            </a:r>
            <a:r>
              <a:rPr lang="ko-KR" altLang="en-US" sz="1800" b="1" dirty="0"/>
              <a:t>조기 탐지</a:t>
            </a:r>
            <a:endParaRPr lang="en-US" altLang="ko-KR" sz="1800" b="1" dirty="0"/>
          </a:p>
          <a:p>
            <a:pPr lvl="2"/>
            <a:r>
              <a:rPr lang="ko-KR" altLang="en-US" sz="1800" dirty="0"/>
              <a:t>근본 원인 분석</a:t>
            </a:r>
            <a:endParaRPr lang="en-US" altLang="ko-KR" sz="1800" dirty="0"/>
          </a:p>
          <a:p>
            <a:pPr lvl="2"/>
            <a:r>
              <a:rPr lang="ko-KR" altLang="en-US" sz="1800" dirty="0"/>
              <a:t>모델 동작 이해 및 투명한 문서화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8FB8937-B0BA-E7BE-2D8C-8887B4DA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성능 모니터링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1468A3-62A7-DDC0-8701-8160E186D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2984839"/>
            <a:ext cx="5483860" cy="35500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7B065-BC65-F19E-6FAA-286E3D6680F6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1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259381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3E093-A2D0-8FFF-45B7-08E1DED4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00575DE-B388-BAD3-2BCF-6E2C71630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431" y="1372096"/>
            <a:ext cx="11653523" cy="1574790"/>
          </a:xfrm>
        </p:spPr>
        <p:txBody>
          <a:bodyPr/>
          <a:lstStyle/>
          <a:p>
            <a:r>
              <a:rPr lang="ko-KR" altLang="en-US" sz="2800" dirty="0"/>
              <a:t>최초 정의한 문제의 컨셉 변화</a:t>
            </a:r>
            <a:r>
              <a:rPr lang="en-US" altLang="ko-KR" sz="2800" dirty="0"/>
              <a:t>(Concept Drift)</a:t>
            </a:r>
          </a:p>
          <a:p>
            <a:pPr lvl="1"/>
            <a:r>
              <a:rPr lang="ko-KR" altLang="en-US" sz="2000" dirty="0"/>
              <a:t>시간</a:t>
            </a:r>
            <a:r>
              <a:rPr lang="en-US" altLang="ko-KR" sz="2000" dirty="0"/>
              <a:t> </a:t>
            </a:r>
            <a:r>
              <a:rPr lang="ko-KR" altLang="en-US" sz="2000" dirty="0"/>
              <a:t>경과에 따라 데이터 변수 또는 패턴 간의 관계가 지속적으로 변할 수 있음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모델 환경에 갑작스럽고 예상치 못한 변화가 발생하여 성능에 상당한 영향을 미칠 수 있는 상황</a:t>
            </a:r>
            <a:br>
              <a:rPr lang="en-US" altLang="ko-KR" sz="2000" dirty="0"/>
            </a:br>
            <a:r>
              <a:rPr lang="en-US" altLang="ko-KR" sz="2000" dirty="0"/>
              <a:t>(</a:t>
            </a:r>
            <a:r>
              <a:rPr lang="ko-KR" altLang="en-US" sz="2000" dirty="0"/>
              <a:t>예 </a:t>
            </a:r>
            <a:r>
              <a:rPr lang="en-US" altLang="ko-KR" sz="2000" dirty="0"/>
              <a:t>: COVID-19)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88DD789-3831-6272-8343-FD6E542F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 </a:t>
            </a:r>
            <a:r>
              <a:rPr lang="ko-KR" altLang="en-US" dirty="0"/>
              <a:t>모델에 영향을 줄 수 있는 요인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D725306-CDDE-A570-9955-11FFE6CC067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26025" y="3515410"/>
            <a:ext cx="7481998" cy="306054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55C31B-3416-1C05-073D-0F488902228C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2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678022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BD7E0D4-97C7-CA21-31A0-922599FE56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41" y="1372096"/>
            <a:ext cx="11653523" cy="1574790"/>
          </a:xfrm>
        </p:spPr>
        <p:txBody>
          <a:bodyPr/>
          <a:lstStyle/>
          <a:p>
            <a:r>
              <a:rPr lang="ko-KR" altLang="en-US" sz="2800" dirty="0"/>
              <a:t>두 가지 접근 방식</a:t>
            </a:r>
            <a:endParaRPr lang="en-US" altLang="ko-KR" sz="2800" dirty="0"/>
          </a:p>
          <a:p>
            <a:pPr lvl="1"/>
            <a:r>
              <a:rPr lang="ko-KR" altLang="en-US" sz="2000" dirty="0"/>
              <a:t>배치</a:t>
            </a:r>
            <a:r>
              <a:rPr lang="en-US" altLang="ko-KR" sz="2000" dirty="0"/>
              <a:t>(Batch) </a:t>
            </a:r>
            <a:r>
              <a:rPr lang="ko-KR" altLang="en-US" sz="2000" dirty="0"/>
              <a:t>모니터링 </a:t>
            </a:r>
            <a:r>
              <a:rPr lang="en-US" altLang="ko-KR" sz="2000" dirty="0"/>
              <a:t>: </a:t>
            </a:r>
            <a:r>
              <a:rPr lang="ko-KR" altLang="en-US" sz="2000" dirty="0"/>
              <a:t>정해진 주기</a:t>
            </a:r>
            <a:r>
              <a:rPr lang="en-US" altLang="ko-KR" sz="2000" dirty="0"/>
              <a:t>(</a:t>
            </a:r>
            <a:r>
              <a:rPr lang="ko-KR" altLang="en-US" sz="2000" dirty="0"/>
              <a:t>일간</a:t>
            </a:r>
            <a:r>
              <a:rPr lang="en-US" altLang="ko-KR" sz="2000" dirty="0"/>
              <a:t>, </a:t>
            </a:r>
            <a:r>
              <a:rPr lang="ko-KR" altLang="en-US" sz="2000" dirty="0"/>
              <a:t>주간 등</a:t>
            </a:r>
            <a:r>
              <a:rPr lang="en-US" altLang="ko-KR" sz="2000" dirty="0"/>
              <a:t>)</a:t>
            </a:r>
            <a:r>
              <a:rPr lang="ko-KR" altLang="en-US" sz="2000" dirty="0"/>
              <a:t>나 특정 이벤트 발생 시 모니터링</a:t>
            </a:r>
            <a:endParaRPr lang="en-US" altLang="ko-KR" sz="2000" dirty="0"/>
          </a:p>
          <a:p>
            <a:pPr lvl="1"/>
            <a:r>
              <a:rPr lang="ko-KR" altLang="en-US" sz="2000" dirty="0"/>
              <a:t>실시간</a:t>
            </a:r>
            <a:r>
              <a:rPr lang="en-US" altLang="ko-KR" sz="2000" dirty="0"/>
              <a:t>(Streaming) </a:t>
            </a:r>
            <a:r>
              <a:rPr lang="ko-KR" altLang="en-US" sz="2000" dirty="0"/>
              <a:t>모니터링 </a:t>
            </a:r>
            <a:r>
              <a:rPr lang="en-US" altLang="ko-KR" sz="2000" dirty="0"/>
              <a:t>: ML </a:t>
            </a:r>
            <a:r>
              <a:rPr lang="ko-KR" altLang="en-US" sz="2000" dirty="0"/>
              <a:t>예측 서비스에서 발생한 데이터를 모니터링 시스템에 실시간으로 전송</a:t>
            </a:r>
            <a:r>
              <a:rPr lang="en-US" altLang="ko-KR" sz="2000" dirty="0"/>
              <a:t>, </a:t>
            </a:r>
            <a:r>
              <a:rPr lang="ko-KR" altLang="en-US" sz="2000" dirty="0"/>
              <a:t>지속적으로 품질 지표를 계산 및 업데이트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837ADA-FD36-3B06-A6A6-10F72294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모니터링 아키텍처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575F708-4A03-43CA-A755-45BCEB08E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209306"/>
              </p:ext>
            </p:extLst>
          </p:nvPr>
        </p:nvGraphicFramePr>
        <p:xfrm>
          <a:off x="1429881" y="3410712"/>
          <a:ext cx="9591465" cy="2761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184608082"/>
                    </a:ext>
                  </a:extLst>
                </a:gridCol>
                <a:gridCol w="3629203">
                  <a:extLst>
                    <a:ext uri="{9D8B030D-6E8A-4147-A177-3AD203B41FA5}">
                      <a16:colId xmlns:a16="http://schemas.microsoft.com/office/drawing/2014/main" val="96154695"/>
                    </a:ext>
                  </a:extLst>
                </a:gridCol>
                <a:gridCol w="3802022">
                  <a:extLst>
                    <a:ext uri="{9D8B030D-6E8A-4147-A177-3AD203B41FA5}">
                      <a16:colId xmlns:a16="http://schemas.microsoft.com/office/drawing/2014/main" val="2584078754"/>
                    </a:ext>
                  </a:extLst>
                </a:gridCol>
              </a:tblGrid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900" b="1" u="none" strike="noStrike" dirty="0">
                          <a:solidFill>
                            <a:srgbClr val="FFFFFF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</a:t>
                      </a:r>
                      <a:endParaRPr lang="ko-KR" altLang="en-US" sz="1900" b="1" i="0" u="none" strike="noStrike" dirty="0">
                        <a:solidFill>
                          <a:srgbClr val="FFFFFF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D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900" b="1" u="none" strike="noStrike" dirty="0">
                          <a:solidFill>
                            <a:srgbClr val="FFFFFF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배치 모니터링</a:t>
                      </a:r>
                      <a:endParaRPr lang="ko-KR" altLang="en-US" sz="1900" b="1" i="0" u="none" strike="noStrike" dirty="0">
                        <a:solidFill>
                          <a:srgbClr val="FFFFFF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D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900" b="1" u="none" strike="noStrike" dirty="0">
                          <a:solidFill>
                            <a:srgbClr val="FFFFFF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 모니터링</a:t>
                      </a:r>
                      <a:endParaRPr lang="ko-KR" altLang="en-US" sz="1900" b="1" i="0" u="none" strike="noStrike" dirty="0">
                        <a:solidFill>
                          <a:srgbClr val="FFFFFF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34822"/>
                  </a:ext>
                </a:extLst>
              </a:tr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흐름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정해진 시간마다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스트리밍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018903"/>
                  </a:ext>
                </a:extLst>
              </a:tr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적합한 환경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일반 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ML 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배치 처리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 예측 서비스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5237"/>
                  </a:ext>
                </a:extLst>
              </a:tr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속도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느림 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지연 있음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빠름 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즉시 감지 가능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835344"/>
                  </a:ext>
                </a:extLst>
              </a:tr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운영 비용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낮음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높음 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복잡한 인프라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667981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한계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Abnormal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에 대한 지연된 탐지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Ground Truth 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확인 지연 시 </a:t>
                      </a:r>
                      <a:endParaRPr lang="en-US" altLang="ko-KR" sz="1700" u="none" strike="noStrike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적용에 한계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166563"/>
                  </a:ext>
                </a:extLst>
              </a:tr>
            </a:tbl>
          </a:graphicData>
        </a:graphic>
      </p:graphicFrame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B5D47C0-183C-A2F4-5DA2-08825180DEA5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3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73480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EFD2EC9AE4E1C4E97A968ACD5F6A537" ma:contentTypeVersion="12" ma:contentTypeDescription="새 문서를 만듭니다." ma:contentTypeScope="" ma:versionID="1ea1fa89daba269f79e359a76104bc05">
  <xsd:schema xmlns:xsd="http://www.w3.org/2001/XMLSchema" xmlns:xs="http://www.w3.org/2001/XMLSchema" xmlns:p="http://schemas.microsoft.com/office/2006/metadata/properties" xmlns:ns2="e4e13380-6049-4f59-9391-9958b2774ca2" xmlns:ns3="cb8fcf1b-9571-4d20-a8ff-81bee2907a75" targetNamespace="http://schemas.microsoft.com/office/2006/metadata/properties" ma:root="true" ma:fieldsID="8c89ccf9c506d50f0e455b7f09eefbc9" ns2:_="" ns3:_="">
    <xsd:import namespace="e4e13380-6049-4f59-9391-9958b2774ca2"/>
    <xsd:import namespace="cb8fcf1b-9571-4d20-a8ff-81bee2907a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3380-6049-4f59-9391-9958b2774c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fcf1b-9571-4d20-a8ff-81bee2907a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4755f7e-2eee-41cd-9fe6-bf774321496a}" ma:internalName="TaxCatchAll" ma:showField="CatchAllData" ma:web="cb8fcf1b-9571-4d20-a8ff-81bee2907a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4e13380-6049-4f59-9391-9958b2774ca2">
      <Terms xmlns="http://schemas.microsoft.com/office/infopath/2007/PartnerControls"/>
    </lcf76f155ced4ddcb4097134ff3c332f>
    <TaxCatchAll xmlns="cb8fcf1b-9571-4d20-a8ff-81bee2907a75" xsi:nil="true"/>
  </documentManagement>
</p:properties>
</file>

<file path=customXml/itemProps1.xml><?xml version="1.0" encoding="utf-8"?>
<ds:datastoreItem xmlns:ds="http://schemas.openxmlformats.org/officeDocument/2006/customXml" ds:itemID="{85F5E809-7485-4F51-90F4-993CE886AD9B}"/>
</file>

<file path=customXml/itemProps2.xml><?xml version="1.0" encoding="utf-8"?>
<ds:datastoreItem xmlns:ds="http://schemas.openxmlformats.org/officeDocument/2006/customXml" ds:itemID="{E6C163A1-1F27-4AAF-A885-0D68EF123AD2}"/>
</file>

<file path=customXml/itemProps3.xml><?xml version="1.0" encoding="utf-8"?>
<ds:datastoreItem xmlns:ds="http://schemas.openxmlformats.org/officeDocument/2006/customXml" ds:itemID="{F63F816B-1643-4DB0-9743-4CE58E36FAA7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353</Words>
  <Application>Microsoft Office PowerPoint</Application>
  <PresentationFormat>와이드스크린</PresentationFormat>
  <Paragraphs>54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Noto Sans KR</vt:lpstr>
      <vt:lpstr>Arial</vt:lpstr>
      <vt:lpstr>Wingdings</vt:lpstr>
      <vt:lpstr>Office 테마</vt:lpstr>
      <vt:lpstr>모델 성능 모니터링</vt:lpstr>
      <vt:lpstr>ML 모델에 영향을 줄 수 있는 요인</vt:lpstr>
      <vt:lpstr>모델 모니터링 아키텍처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 기영</dc:creator>
  <cp:lastModifiedBy>한 기영</cp:lastModifiedBy>
  <cp:revision>5</cp:revision>
  <dcterms:created xsi:type="dcterms:W3CDTF">2025-10-04T10:11:22Z</dcterms:created>
  <dcterms:modified xsi:type="dcterms:W3CDTF">2026-02-25T05:55:27Z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2025-10-04T10:11:27Z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9c2f2976-5977-4594-91a4-b319c663549a</vt:lpwstr>
  </property>
  <property fmtid="{D5CDD505-2E9C-101B-9397-08002B2CF9AE}" pid="8" name="MSIP_Label_b16c548c-0cd3-4220-987a-a58bfd9a89d4_ContentBits">
    <vt:lpwstr>0</vt:lpwstr>
  </property>
  <property fmtid="{D5CDD505-2E9C-101B-9397-08002B2CF9AE}" pid="9" name="MSIP_Label_b16c548c-0cd3-4220-987a-a58bfd9a89d4_Tag">
    <vt:lpwstr>10, 0, 1, 1</vt:lpwstr>
  </property>
  <property fmtid="{D5CDD505-2E9C-101B-9397-08002B2CF9AE}" pid="10" name="ContentTypeId">
    <vt:lpwstr>0x010100EEFD2EC9AE4E1C4E97A968ACD5F6A537</vt:lpwstr>
  </property>
</Properties>
</file>